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59d3bf3a1425b" /><Relationship Type="http://schemas.openxmlformats.org/officeDocument/2006/relationships/extended-properties" Target="/docProps/app.xml" Id="R80246178a5884083" /><Relationship Type="http://schemas.openxmlformats.org/officeDocument/2006/relationships/officeDocument" Target="/ppt/presentation.xml" Id="Re28f2747c2f6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7f7cd597f443b"/>
  </p:sldMasterIdLst>
  <p:notesMasterIdLst>
    <p:notesMasterId xmlns:r="http://schemas.openxmlformats.org/officeDocument/2006/relationships" r:id="Re942db8439c9492e"/>
  </p:notesMasterIdLst>
  <p:sldIdLst>
    <p:sldId xmlns:r="http://schemas.openxmlformats.org/officeDocument/2006/relationships" id="256" r:id="R933f82119050481e"/>
    <p:sldId xmlns:r="http://schemas.openxmlformats.org/officeDocument/2006/relationships" id="257" r:id="R2a925dc163cd4d22"/>
    <p:sldId xmlns:r="http://schemas.openxmlformats.org/officeDocument/2006/relationships" id="258" r:id="R500959caf62f4c61"/>
    <p:sldId xmlns:r="http://schemas.openxmlformats.org/officeDocument/2006/relationships" id="259" r:id="R2cadf1fdc7834c44"/>
    <p:sldId xmlns:r="http://schemas.openxmlformats.org/officeDocument/2006/relationships" id="260" r:id="Rd18a472dd2964b3f"/>
    <p:sldId xmlns:r="http://schemas.openxmlformats.org/officeDocument/2006/relationships" id="261" r:id="Rebf8c0e0f2b84fe1"/>
    <p:sldId xmlns:r="http://schemas.openxmlformats.org/officeDocument/2006/relationships" id="262" r:id="R963129b157084d02"/>
    <p:sldId xmlns:r="http://schemas.openxmlformats.org/officeDocument/2006/relationships" id="263" r:id="Ra03dc1666dcf43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7de58e59ac45eb" /><Relationship Type="http://schemas.openxmlformats.org/officeDocument/2006/relationships/slideMaster" Target="/ppt/slideMasters/slideMaster1.xml" Id="R0897f7cd597f443b" /><Relationship Type="http://schemas.openxmlformats.org/officeDocument/2006/relationships/notesMaster" Target="/ppt/notesMasters/notesMaster1.xml" Id="Re942db8439c9492e" /><Relationship Type="http://schemas.openxmlformats.org/officeDocument/2006/relationships/presProps" Target="/ppt/presProps.xml" Id="R2c8299c905174170" /><Relationship Type="http://schemas.openxmlformats.org/officeDocument/2006/relationships/tableStyles" Target="/ppt/tableStyles.xml" Id="R1ab72c32db6a4279" /><Relationship Type="http://schemas.openxmlformats.org/officeDocument/2006/relationships/slide" Target="/ppt/slides/slide1.xml" Id="R933f82119050481e" /><Relationship Type="http://schemas.openxmlformats.org/officeDocument/2006/relationships/slide" Target="/ppt/slides/slide2.xml" Id="R2a925dc163cd4d22" /><Relationship Type="http://schemas.openxmlformats.org/officeDocument/2006/relationships/slide" Target="/ppt/slides/slide3.xml" Id="R500959caf62f4c61" /><Relationship Type="http://schemas.openxmlformats.org/officeDocument/2006/relationships/slide" Target="/ppt/slides/slide4.xml" Id="R2cadf1fdc7834c44" /><Relationship Type="http://schemas.openxmlformats.org/officeDocument/2006/relationships/slide" Target="/ppt/slides/slide5.xml" Id="Rd18a472dd2964b3f" /><Relationship Type="http://schemas.openxmlformats.org/officeDocument/2006/relationships/slide" Target="/ppt/slides/slide6.xml" Id="Rebf8c0e0f2b84fe1" /><Relationship Type="http://schemas.openxmlformats.org/officeDocument/2006/relationships/slide" Target="/ppt/slides/slide7.xml" Id="R963129b157084d02" /><Relationship Type="http://schemas.openxmlformats.org/officeDocument/2006/relationships/slide" Target="/ppt/slides/slide8.xml" Id="Ra03dc1666dcf43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3271437b3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71dc1978d44912" /><Relationship Type="http://schemas.openxmlformats.org/officeDocument/2006/relationships/notesMaster" Target="/ppt/notesMasters/notesMaster1.xml" Id="R75330ccfb847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ac4ac7b31945e1" /><Relationship Type="http://schemas.openxmlformats.org/officeDocument/2006/relationships/notesMaster" Target="/ppt/notesMasters/notesMaster1.xml" Id="R3b5db8d1e41b47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2eabfa48742f6" /><Relationship Type="http://schemas.openxmlformats.org/officeDocument/2006/relationships/notesMaster" Target="/ppt/notesMasters/notesMaster1.xml" Id="R6665b77b4b11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fae6d7bd454bfb" /><Relationship Type="http://schemas.openxmlformats.org/officeDocument/2006/relationships/notesMaster" Target="/ppt/notesMasters/notesMaster1.xml" Id="R3bd26a47d698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4bcc29c54e47e4" /><Relationship Type="http://schemas.openxmlformats.org/officeDocument/2006/relationships/notesMaster" Target="/ppt/notesMasters/notesMaster1.xml" Id="R95bf105db78d41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42008867604373" /><Relationship Type="http://schemas.openxmlformats.org/officeDocument/2006/relationships/notesMaster" Target="/ppt/notesMasters/notesMaster1.xml" Id="Rc2a7e34a001d4e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76fa5053024302" /><Relationship Type="http://schemas.openxmlformats.org/officeDocument/2006/relationships/notesMaster" Target="/ppt/notesMasters/notesMaster1.xml" Id="Rb6b195bb7cd941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2070f94cbc4bb2" /><Relationship Type="http://schemas.openxmlformats.org/officeDocument/2006/relationships/notesMaster" Target="/ppt/notesMasters/notesMaster1.xml" Id="Rac982d8a20bd41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f0570d3144b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dc7b4ed0b4e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09555b42041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168120dd044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4ed8e7e7847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3d7fc622545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C5C700-EEFD-477F-B77F-B07B8316AC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34682F-4E1C-4570-B415-27D1B97967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73154D-A467-412D-BE3C-C060F4C17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0A1D27-602D-4DC9-A635-F763F1BE66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86B576-4D5C-4ABC-89FC-EDB826FC5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D1EE3E-B931-4654-8C74-1C1382DA5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0324F4-978C-4A16-93D4-661078669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9E3A76-10B8-43F0-BBAF-55F27BD820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1AB305-88D1-405A-A2A3-D70E5938D0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A3C2C4-DEBD-47B3-8663-7244E53B96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df022d95454e9c" /><Relationship Type="http://schemas.openxmlformats.org/officeDocument/2006/relationships/slideLayout" Target="/ppt/slideLayouts/slideLayout1.xml" Id="R8387bea53bb64b1d" /><Relationship Type="http://schemas.openxmlformats.org/officeDocument/2006/relationships/slideLayout" Target="/ppt/slideLayouts/slideLayout2.xml" Id="Rc6cf8c4ae47747bf" /><Relationship Type="http://schemas.openxmlformats.org/officeDocument/2006/relationships/slideLayout" Target="/ppt/slideLayouts/slideLayout3.xml" Id="R16f8b81b75a6402d" /><Relationship Type="http://schemas.openxmlformats.org/officeDocument/2006/relationships/slideLayout" Target="/ppt/slideLayouts/slideLayout4.xml" Id="R4657ba07bf084fe2" /><Relationship Type="http://schemas.openxmlformats.org/officeDocument/2006/relationships/slideLayout" Target="/ppt/slideLayouts/slideLayout5.xml" Id="R2d6031c2cbcf40f1" /><Relationship Type="http://schemas.openxmlformats.org/officeDocument/2006/relationships/slideLayout" Target="/ppt/slideLayouts/slideLayout6.xml" Id="Rc6095d842ff64d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7bea53bb64b1d"/>
    <p:sldLayoutId xmlns:r="http://schemas.openxmlformats.org/officeDocument/2006/relationships" id="2147483650" r:id="Rc6cf8c4ae47747bf"/>
    <p:sldLayoutId xmlns:r="http://schemas.openxmlformats.org/officeDocument/2006/relationships" id="2147483651" r:id="R16f8b81b75a6402d"/>
    <p:sldLayoutId xmlns:r="http://schemas.openxmlformats.org/officeDocument/2006/relationships" id="2147483652" r:id="R4657ba07bf084fe2"/>
    <p:sldLayoutId xmlns:r="http://schemas.openxmlformats.org/officeDocument/2006/relationships" id="2147483653" r:id="R2d6031c2cbcf40f1"/>
    <p:sldLayoutId xmlns:r="http://schemas.openxmlformats.org/officeDocument/2006/relationships" id="2147483654" r:id="Rc6095d842ff6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b7b93fd514375" /><Relationship Type="http://schemas.openxmlformats.org/officeDocument/2006/relationships/notesSlide" Target="/ppt/notesSlides/notesSlide1.xml" Id="Rd06c0af6c1cc49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59dba82824adf" /><Relationship Type="http://schemas.openxmlformats.org/officeDocument/2006/relationships/notesSlide" Target="/ppt/notesSlides/notesSlide2.xml" Id="R0e3cf09c0600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f44f55ab6497d" /><Relationship Type="http://schemas.openxmlformats.org/officeDocument/2006/relationships/image" Target="/ppt/media/image.jpeg" Id="R4d334707410e4d7d" /><Relationship Type="http://schemas.openxmlformats.org/officeDocument/2006/relationships/notesSlide" Target="/ppt/notesSlides/notesSlide3.xml" Id="R3bf363180f8147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f2c05df6448d3" /><Relationship Type="http://schemas.openxmlformats.org/officeDocument/2006/relationships/notesSlide" Target="/ppt/notesSlides/notesSlide4.xml" Id="Rb0c6ad145cc3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a3808613c4a50" /><Relationship Type="http://schemas.openxmlformats.org/officeDocument/2006/relationships/image" Target="/ppt/media/image2.jpeg" Id="Rcb7bbb7659bb42f1" /><Relationship Type="http://schemas.openxmlformats.org/officeDocument/2006/relationships/notesSlide" Target="/ppt/notesSlides/notesSlide5.xml" Id="R4a08e1f5bf3444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6a7d1dfc154efb" /><Relationship Type="http://schemas.openxmlformats.org/officeDocument/2006/relationships/notesSlide" Target="/ppt/notesSlides/notesSlide6.xml" Id="R937c237c576b4a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5262f43cf4aa8" /><Relationship Type="http://schemas.openxmlformats.org/officeDocument/2006/relationships/image" Target="/ppt/media/image3.jpeg" Id="R8068be955ea64440" /><Relationship Type="http://schemas.openxmlformats.org/officeDocument/2006/relationships/notesSlide" Target="/ppt/notesSlides/notesSlide7.xml" Id="Rdf0bf8e77e6b41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c3597c7164dca" /><Relationship Type="http://schemas.openxmlformats.org/officeDocument/2006/relationships/image" Target="/ppt/media/image4.jpeg" Id="R4e753a8a5b474777" /><Relationship Type="http://schemas.openxmlformats.org/officeDocument/2006/relationships/notesSlide" Target="/ppt/notesSlides/notesSlide8.xml" Id="R241d9d86dece47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0E520-7E8D-4F19-82F3-A88659DB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GTM 市场分析与运营方案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14B60-939B-462B-A038-6F303D7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F65D5"/>
                </a:solidFill>
              </a:defRPr>
            </a:pPr>
            <a:r>
              <a:rPr sz="2250" b="1">
                <a:solidFill>
                  <a:srgbClr val="2F65D5"/>
                </a:solidFill>
              </a:rPr>
              <a:t>吉隆坡留学生租房平台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FC965-ECFE-45F9-A081-AEB4F634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D6B82"/>
                </a:solidFill>
              </a:defRPr>
            </a:pPr>
            <a:r>
              <a:rPr sz="1500" b="0">
                <a:solidFill>
                  <a:srgbClr val="5D6B82"/>
                </a:solidFill>
              </a:rPr>
              <a:t>通过公域获客、私域转化和中介资源整合，为双威地区留学生提供一站式租房服务。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4C0AE-D236-46B8-8ED4-D6FEC15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3238500" cy="4000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38510-668F-4CDF-960D-7D14BF01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65D5"/>
                </a:solidFill>
              </a:defRPr>
            </a:pPr>
            <a:r>
              <a:rPr sz="1200" b="1">
                <a:solidFill>
                  <a:srgbClr val="2F65D5"/>
                </a:solidFill>
              </a:rPr>
              <a:t>平台角色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65AF8-EF8B-416D-978F-A761C72C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连接持证中介、房东与留学生，为新生提供从房源咨询到入住后的服务支持。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A3FFD-8BD7-40C5-A0EB-86C92DE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公域获客  ·  私域转化  ·  中介合作  ·  流程服务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2ECB8-4E4A-4C07-8E5C-AEEA270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项目数据基于平台阶段性运营复盘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D20AD-FF2A-48CD-AB74-DBE76614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9F181-A85B-4FDB-8226-EF74DAF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8370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F8012-5FD8-4ED0-8A26-44ABF10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01 业务背景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17260-1F68-4FA0-A98F-578C313A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用户问题与市场机会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79E93-62BD-4E79-B0B7-943FC7ED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82"/>
                </a:solidFill>
              </a:defRPr>
            </a:pPr>
            <a:r>
              <a:rPr sz="1275" b="0">
                <a:solidFill>
                  <a:srgbClr val="5D6B82"/>
                </a:solidFill>
              </a:rPr>
              <a:t>吉隆坡的留学生租房需求集中在入学季，服务价值来自信息筛选和流程协同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64FE4-80EF-4429-9E55-AF381A3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728CB-ECBB-4FF4-88C0-EC730B2E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65D5"/>
                </a:solidFill>
              </a:defRPr>
            </a:pPr>
            <a:r>
              <a:rPr sz="1650" b="1">
                <a:solidFill>
                  <a:srgbClr val="2F65D5"/>
                </a:solidFill>
              </a:rPr>
              <a:t>目标用户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3E86B-B63E-44D1-9AD7-58E65AD2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吉隆坡双威地区三所私立大学的新生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1F880-4336-4D30-899E-F2D4B464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31EF0-409C-458C-9102-BB9B70CC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刚到当地，对租房流程、合同和房东沟通不熟悉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3C68E-7B4E-41EB-8D8D-6E286E00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85767-6EAB-44B4-B23F-EF52866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需要中文信息、可信房源和入住后的问题支持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8CAFF-7578-44D0-B1CF-B5FB1ADC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BBFDA-4BB1-4E1A-A2D3-5F7CDE8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入学季需求集中，决策时间短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AD337-CBA3-4D06-8A3F-CB713FB3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5600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A0772-934F-4D0B-A4AB-903D694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A68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1A683"/>
                </a:solidFill>
              </a:defRPr>
            </a:pPr>
            <a:r>
              <a:rPr sz="1650" b="1">
                <a:solidFill>
                  <a:srgbClr val="11A683"/>
                </a:solidFill>
              </a:rPr>
              <a:t>平台机会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9D3E1-A7DC-47A6-A3A0-84960D0C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228BC-B91F-4C0F-A7FA-E6E35B38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连接持证中介与新生需求，减少信息不对称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4C295-221E-4492-8687-9AEA2540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7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531BE-A388-4235-9EA2-9682D262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用公域内容获取线索，用私域服务完成转化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A6F9F-2BAF-4D8D-858E-B9555EB2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2DB44-7C8F-4BAA-950C-47495E5C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把谈价、资料提交、签约和入住变成标准流程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E939A-8EF6-423A-8EE7-6E779E5E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E2D93-3FEE-4635-9A4E-B7B643D8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863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通过数据复盘调整房源与渠道策略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E9B03-393C-4ADA-8CA3-65BF2E8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58ED9-5203-4BE1-B08B-BB7E9AD5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9695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0F8011-29C8-4E46-9B2E-F0EB51C1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02 产品与服务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A923A-F922-4BC1-8EF7-A67D7238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产品定位与服务流程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14704-1BEB-40E9-B5F4-91147655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82"/>
                </a:solidFill>
              </a:defRPr>
            </a:pPr>
            <a:r>
              <a:rPr sz="1275" b="0">
                <a:solidFill>
                  <a:srgbClr val="5D6B82"/>
                </a:solidFill>
              </a:rPr>
              <a:t>小程序目前处于测试阶段，已形成房源展示和筛选的核心界面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8EBE9-D5BD-45C5-893E-B81C5239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65D5"/>
                </a:solidFill>
              </a:defRPr>
            </a:pPr>
            <a:r>
              <a:rPr sz="1575" b="1">
                <a:solidFill>
                  <a:srgbClr val="2F65D5"/>
                </a:solidFill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99107-2199-4EA9-AEC4-CB7F78DC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面向吉隆坡双威地区留学生新生的一站式租房服务平台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0CCDC-9264-4DDF-8378-54F20CC2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71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D5043-C528-48A8-A7A7-80B3741A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8D9FF-6B7B-4C6B-AD73-FE56406F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房源浏览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C69CB-17FC-47FB-B9E4-9AA4D42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图片、价格、位置与条件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AD049-C485-4096-B754-775625C2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2571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E1201-D596-4EFF-B7A6-66B25499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242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7F1C7-1D90-43DB-B641-936BE4F9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需求收集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18DF5-85A0-41A2-8F98-56D0754B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99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预算、房型、入住时间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4157E-6FD3-4EF7-88FB-DF96AFC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571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53233-D799-42FB-8BBE-8F35095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C0181-183D-427D-83B2-2FC1FD27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房源匹配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0F515-77AC-4225-94E2-268ADFBF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767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按小区、房型与条件比较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2BF97-3490-4E60-B633-89B92D47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48150"/>
            <a:ext cx="2571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BED34-7DC1-43D8-9244-A2361B73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910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3B10F-BDB7-4CCC-8CD0-92D2FBE6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谈价签约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8BAAA-5E57-49A4-B89B-60C19799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767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协助租客与房东沟通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35D05-7D0F-4CF0-A81E-B4F411F0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571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F34F3-331D-4C52-8CD2-211136B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28C2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28C28"/>
                </a:solidFill>
              </a:defRPr>
            </a:pPr>
            <a:r>
              <a:rPr sz="1050" b="1">
                <a:solidFill>
                  <a:srgbClr val="F28C28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61973-393C-48A2-BD6C-19858957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入住支持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152FB-F5B7-4E35-929C-F9236C44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435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入住详情与售后对接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B8F59-934A-40A6-9215-B12C7CDD0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34707410e4d7d"/>
          <a:stretch xmlns:a="http://schemas.openxmlformats.org/drawingml/2006/main"/>
        </p:blipFill>
        <p:spPr>
          <a:xfrm xmlns:a="http://schemas.openxmlformats.org/drawingml/2006/main">
            <a:off x="8686800" y="1638300"/>
            <a:ext cx="1956000" cy="44005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993C5-15F9-4456-8222-329161F1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48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小程序首页（测试中，未正式上线）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62037C-E8ED-4FCD-ACFE-7FE9F4ED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A3B50-C4F5-4453-B619-6F24FEF0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7503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DEF36-C7C7-482F-A8CA-796AEDA6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03 市场框架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65E10-442C-46DF-BF9A-4F0D811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4P 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25954-BBC9-4A68-B0AB-FB29E582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82"/>
                </a:solidFill>
              </a:defRPr>
            </a:pPr>
            <a:r>
              <a:rPr sz="1275" b="0">
                <a:solidFill>
                  <a:srgbClr val="5D6B82"/>
                </a:solidFill>
              </a:rPr>
              <a:t>用产品、价格、渠道和推广解释平台如何获得用户并完成转化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1F723-4F86-4974-96E9-1B1BD7C2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73A21-2F06-46BE-92F4-4C1C43E1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65D5"/>
                </a:solidFill>
              </a:defRPr>
            </a:pPr>
            <a:r>
              <a:rPr sz="1575" b="1">
                <a:solidFill>
                  <a:srgbClr val="2F65D5"/>
                </a:solidFill>
              </a:rPr>
              <a:t>Product 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7F0E5-C9D7-4881-B7B4-B55F8D66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房源展示与筛选、需求收集、找室友、代看房、签约和入住支持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CE030-0651-4E8B-81AE-EB5CA827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9525">
            <a:solidFill>
              <a:srgbClr val="FFF2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8E8FB-49AE-4CEB-A09E-BB821D56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28C2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28C28"/>
                </a:solidFill>
              </a:defRPr>
            </a:pPr>
            <a:r>
              <a:rPr sz="1575" b="1">
                <a:solidFill>
                  <a:srgbClr val="F28C28"/>
                </a:solidFill>
              </a:rPr>
              <a:t>Price 价格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4B97A-7BE1-410E-A2A6-F552C586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根据小区、房型及相关条件比较房源，协助租客与房东谈判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1C6D3-D173-48AB-BB2F-AD86CBEB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F2F88-B359-48A9-91CD-A287DD9C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1A68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1A683"/>
                </a:solidFill>
              </a:defRPr>
            </a:pPr>
            <a:r>
              <a:rPr sz="1575" b="1">
                <a:solidFill>
                  <a:srgbClr val="11A683"/>
                </a:solidFill>
              </a:rPr>
              <a:t>Place 渠道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99C6A-2AF0-41F1-8FDC-A62669B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小红书、抖音、学生群、公域内容、私域群聊和持证中介合作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AE205-390E-4695-8489-BD90A67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F1E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6FA5C-1B0A-4388-B969-C31B33A2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7B52C7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B52C7"/>
                </a:solidFill>
              </a:defRPr>
            </a:pPr>
            <a:r>
              <a:rPr sz="1575" b="1">
                <a:solidFill>
                  <a:srgbClr val="7B52C7"/>
                </a:solidFill>
              </a:rPr>
              <a:t>Promotion 推广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AFD96-7263-424C-9B9B-DD149485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增量市场为主，老生转介绍等存量市场为辅；通过顾问话术促进下订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9263A-78F2-4D50-85FE-D8FF2F66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27CF2-3133-4D74-8C5B-B995C736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5599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8D78B8-5ED8-43A4-8336-9F551F0A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04 GTM 运营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F51D7-DF12-4245-BF0E-828D230D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渠道与转化策略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2D341-2EDE-40C0-9AFD-0DB33258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82"/>
                </a:solidFill>
              </a:defRPr>
            </a:pPr>
            <a:r>
              <a:rPr sz="1275" b="0">
                <a:solidFill>
                  <a:srgbClr val="5D6B82"/>
                </a:solidFill>
              </a:rPr>
              <a:t>增量市场提供新线索，存量市场降低获客成本并提高信任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BE16C-CAEB-4C66-A841-836D23B3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65D5"/>
                </a:solidFill>
              </a:defRPr>
            </a:pPr>
            <a:r>
              <a:rPr sz="1575" b="1">
                <a:solidFill>
                  <a:srgbClr val="2F65D5"/>
                </a:solidFill>
              </a:rPr>
              <a:t>增量市场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D5515-4940-4C5F-9237-F44CE1E3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小红书、抖音、学生租房群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64AA6-47C4-4122-B8BE-F27F8FE3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82"/>
                </a:solidFill>
              </a:defRPr>
            </a:pPr>
            <a:r>
              <a:rPr sz="1350" b="0">
                <a:solidFill>
                  <a:srgbClr val="5D6B82"/>
                </a:solidFill>
              </a:rPr>
              <a:t>围绕入学季、热门小区和房型制作内容，吸引新生进入私域。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28BD4-8593-4459-BF64-EC0655F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1A68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1A683"/>
                </a:solidFill>
              </a:defRPr>
            </a:pPr>
            <a:r>
              <a:rPr sz="1575" b="1">
                <a:solidFill>
                  <a:srgbClr val="11A683"/>
                </a:solidFill>
              </a:rPr>
              <a:t>存量市场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A8632-C3AE-4D8B-BBCE-4580D4BC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老生转介绍与用户关系维护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0BD0C-AF82-4DB1-9B80-CFAAF4C5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82"/>
                </a:solidFill>
              </a:defRPr>
            </a:pPr>
            <a:r>
              <a:rPr sz="1350" b="0">
                <a:solidFill>
                  <a:srgbClr val="5D6B82"/>
                </a:solidFill>
              </a:rPr>
              <a:t>通过真实服务反馈和转介绍承接需求，减少首次租房的信任成本。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8FA77-DB4E-4FF9-81AB-920C2CC9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CF6B0-29B8-4370-827E-777659ED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公域曝光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5A9F4-607E-4B03-8A8B-66640C44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816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D6B82"/>
                </a:solidFill>
              </a:defRPr>
            </a:pPr>
            <a:r>
              <a:rPr sz="1350" b="1">
                <a:solidFill>
                  <a:srgbClr val="5D6B8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3128C-0715-49C0-B013-DDBB7DC4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E86ED-E49B-46A9-8965-C7DE5E7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816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私域进群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6F6EC-8B32-46BB-8260-44AA23C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816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D6B82"/>
                </a:solidFill>
              </a:defRPr>
            </a:pPr>
            <a:r>
              <a:rPr sz="1350" b="1">
                <a:solidFill>
                  <a:srgbClr val="5D6B8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FB7BA-54B9-437B-A2F8-DF8797DD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19750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33DD4-7130-4CA7-B156-610DCAD3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816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潜在客户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DE3CD-EA9A-48F1-8197-E61D0FF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816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D6B82"/>
                </a:solidFill>
              </a:defRPr>
            </a:pPr>
            <a:r>
              <a:rPr sz="1350" b="1">
                <a:solidFill>
                  <a:srgbClr val="5D6B8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127B4-BD5B-42BC-87AC-52C95B1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19750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2A136-53D8-4875-BE10-38AFCAF2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816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房源咨询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8DE40-6FBC-4DA3-AD6C-6C1925E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816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D6B82"/>
                </a:solidFill>
              </a:defRPr>
            </a:pPr>
            <a:r>
              <a:rPr sz="1350" b="1">
                <a:solidFill>
                  <a:srgbClr val="5D6B8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C70E8-A941-4D4D-AF93-6549E082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9750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1078D-3BC3-4C45-983C-70D5CC6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816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下订 / 签约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42E22-8F17-49D6-98ED-3B72BE49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7816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D6B82"/>
                </a:solidFill>
              </a:defRPr>
            </a:pPr>
            <a:r>
              <a:rPr sz="1350" b="1">
                <a:solidFill>
                  <a:srgbClr val="5D6B8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82913-53DD-44BD-8461-9A23755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19750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9C8BAC-AAE0-41C7-813E-A0A36B1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816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入住完成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54BAD-FAD0-44EC-BF22-2B3ADD020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bb7659bb42f1"/>
          <a:stretch xmlns:a="http://schemas.openxmlformats.org/drawingml/2006/main"/>
        </p:blipFill>
        <p:spPr>
          <a:xfrm xmlns:a="http://schemas.openxmlformats.org/drawingml/2006/main">
            <a:off x="8613750" y="1905000"/>
            <a:ext cx="2571750" cy="3524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D21C2-00A0-455A-ABC6-EF4ACA3B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34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公域内容示例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319F7-DB8D-47A8-B8C5-C4F8C73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DA8C77-5315-49EE-838A-349A754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5590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42093-81D7-41A0-9449-10ABC49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05 数据复盘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99F5E-D894-4C8C-9BC8-7C95CC1E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运营指标与阶段结果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7E0C9-5354-4B34-8AEA-21BE888E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82"/>
                </a:solidFill>
              </a:defRPr>
            </a:pPr>
            <a:r>
              <a:rPr sz="1275" b="0">
                <a:solidFill>
                  <a:srgbClr val="5D6B82"/>
                </a:solidFill>
              </a:rPr>
              <a:t>平台用业务数据观察渠道质量、房源价格和转化变化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28E84-0770-4F10-9D2E-37468C6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77395-60D9-428C-B31D-ACFF98C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B82"/>
                </a:solidFill>
              </a:defRPr>
            </a:pPr>
            <a:r>
              <a:rPr sz="1050" b="1">
                <a:solidFill>
                  <a:srgbClr val="5D6B82"/>
                </a:solidFill>
              </a:rPr>
              <a:t>房源服务量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9BA3A-9D59-46D6-B7C1-652C6396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100+ 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5F53F-610D-4B1D-BB44-97CB54C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D6B82"/>
                </a:solidFill>
              </a:defRPr>
            </a:pPr>
            <a:r>
              <a:rPr sz="975" b="0">
                <a:solidFill>
                  <a:srgbClr val="5D6B82"/>
                </a:solidFill>
              </a:rPr>
              <a:t>已服务房源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079BB-3575-4221-B1BC-E484BEE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6F7F2"/>
          </a:solidFill>
          <a:ln xmlns:a="http://schemas.openxmlformats.org/drawingml/2006/main" w="9525">
            <a:solidFill>
              <a:srgbClr val="E6F7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415B0-3B2B-48BD-94D6-9E87974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B82"/>
                </a:solidFill>
              </a:defRPr>
            </a:pPr>
            <a:r>
              <a:rPr sz="1050" b="1">
                <a:solidFill>
                  <a:srgbClr val="5D6B82"/>
                </a:solidFill>
              </a:rPr>
              <a:t>累计服务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5E218-357B-4154-BFF8-AF20ED3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479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1,000+ 人次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E9888-49C5-4705-BB2D-0FA2FC40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28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D6B82"/>
                </a:solidFill>
              </a:defRPr>
            </a:pPr>
            <a:r>
              <a:rPr sz="975" b="0">
                <a:solidFill>
                  <a:srgbClr val="5D6B82"/>
                </a:solidFill>
              </a:rPr>
              <a:t>平台累计服务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8CC6D-2064-4073-B116-D77D8C82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9525">
            <a:solidFill>
              <a:srgbClr val="FFF2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04D39-3655-4E0B-A9B9-32C0B091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B82"/>
                </a:solidFill>
              </a:defRPr>
            </a:pPr>
            <a:r>
              <a:rPr sz="1050" b="1">
                <a:solidFill>
                  <a:srgbClr val="5D6B82"/>
                </a:solidFill>
              </a:rPr>
              <a:t>个人创收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74198-3109-4A06-A5AC-0683376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479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6 万元+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304D9-DCAC-4023-BEA3-F1BEEB49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28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D6B82"/>
                </a:solidFill>
              </a:defRPr>
            </a:pPr>
            <a:r>
              <a:rPr sz="975" b="0">
                <a:solidFill>
                  <a:srgbClr val="5D6B82"/>
                </a:solidFill>
              </a:rPr>
              <a:t>年度参与创收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9D368-8EA2-4706-AA3D-8EE38A3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F1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34DE0-67B8-48C7-ACC8-7DDCE75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D6B82"/>
                </a:solidFill>
              </a:defRPr>
            </a:pPr>
            <a:r>
              <a:rPr sz="1050" b="1">
                <a:solidFill>
                  <a:srgbClr val="5D6B82"/>
                </a:solidFill>
              </a:rPr>
              <a:t>阶段结果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D2597-C2F5-49E2-9065-786904DB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479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约 +10%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117DC-6A5A-4786-BA23-5B72910F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28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D6B82"/>
                </a:solidFill>
              </a:defRPr>
            </a:pPr>
            <a:r>
              <a:rPr sz="975" b="0">
                <a:solidFill>
                  <a:srgbClr val="5D6B82"/>
                </a:solidFill>
              </a:rPr>
              <a:t>阶段整体转化率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164F0-F766-41FA-B217-19713A1E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F65D5"/>
                </a:solidFill>
              </a:defRPr>
            </a:pPr>
            <a:r>
              <a:rPr sz="1500" b="1">
                <a:solidFill>
                  <a:srgbClr val="2F65D5"/>
                </a:solidFill>
              </a:rPr>
              <a:t>已建立的数据字段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5608F-B90F-49E7-88A3-CAA91BF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引流人数｜潜在客户人数｜成交人数｜房源价格｜租客人数｜平台流水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9389C-3159-48AC-8B08-EE701BFF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A68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A683"/>
                </a:solidFill>
              </a:defRPr>
            </a:pPr>
            <a:r>
              <a:rPr sz="1500" b="1">
                <a:solidFill>
                  <a:srgbClr val="11A683"/>
                </a:solidFill>
              </a:rPr>
              <a:t>分析方式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F73FB-A163-4639-A0DA-BE05588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F6DDC-4FDE-4B7F-838D-7E47B537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比较不同小区、房型和价格条件下的成交表现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59409-89CE-4670-ACD0-BA353C2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B5C0C-13AF-4D6A-BF20-7766ED6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43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按阶段复盘流水、转化率、成交价格和租客人数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3C8DC-41C3-4A66-BBF2-2E7BB7BA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5B1B32-4A59-4692-86D2-F0108A2E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5234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7B0B5-E101-4C9C-BA9F-5E973EA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06 运营机制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D7306-5473-41FC-A1F0-5E1FDF4E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服务 SOP 与业务优势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746BC-EC7F-482C-886F-F5E0BF5C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82"/>
                </a:solidFill>
              </a:defRPr>
            </a:pPr>
            <a:r>
              <a:rPr sz="1275" b="0">
                <a:solidFill>
                  <a:srgbClr val="5D6B82"/>
                </a:solidFill>
              </a:rPr>
              <a:t>标准化流程把一次咨询转化为可追踪的服务过程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3F0B6-88CC-48CA-ABBE-EF704C82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D0ACA-E219-4224-819A-B041BC0D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65D5"/>
                </a:solidFill>
              </a:defRPr>
            </a:pPr>
            <a:r>
              <a:rPr sz="1650" b="1">
                <a:solidFill>
                  <a:srgbClr val="2F65D5"/>
                </a:solidFill>
              </a:rPr>
              <a:t>签约前与入住后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2354D-DD84-4449-B633-D75F3317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5D5"/>
                </a:solidFill>
              </a:defRPr>
            </a:pPr>
            <a:r>
              <a:rPr sz="1125" b="1">
                <a:solidFill>
                  <a:srgbClr val="2F65D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86DBA-42FE-495A-8A64-27FA1ADC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收集租客资料并提交房东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E4175-C8BD-4386-81B7-0F2926F2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5D5"/>
                </a:solidFill>
              </a:defRPr>
            </a:pPr>
            <a:r>
              <a:rPr sz="1125" b="1">
                <a:solidFill>
                  <a:srgbClr val="2F65D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292BC-86BB-4077-910B-C3BE6FAB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比较房源并协助价格谈判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ADF4D-EF57-4E52-ADA8-9DC2D3C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5D5"/>
                </a:solidFill>
              </a:defRPr>
            </a:pPr>
            <a:r>
              <a:rPr sz="1125" b="1">
                <a:solidFill>
                  <a:srgbClr val="2F65D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F33C-F458-4A53-86C3-206B948F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确认家具和入住时间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FA61B-5CAF-4689-A790-FC4B4842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5D5"/>
                </a:solidFill>
              </a:defRPr>
            </a:pPr>
            <a:r>
              <a:rPr sz="1125" b="1">
                <a:solidFill>
                  <a:srgbClr val="2F65D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DC007-929D-4E19-A239-049FFF45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跟进下订与合同签署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6A052-67E9-446F-B7FF-D9DCF402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5D5"/>
                </a:solidFill>
              </a:defRPr>
            </a:pPr>
            <a:r>
              <a:rPr sz="1125" b="1">
                <a:solidFill>
                  <a:srgbClr val="2F65D5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F8DF7-15CE-491A-96CF-50C31CE7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对接入住详情与问题反馈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85D83-4E12-401C-9515-F9C8BF6A07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8be955ea64440"/>
          <a:stretch xmlns:a="http://schemas.openxmlformats.org/drawingml/2006/main"/>
        </p:blipFill>
        <p:spPr>
          <a:xfrm xmlns:a="http://schemas.openxmlformats.org/drawingml/2006/main">
            <a:off x="8274217" y="1695450"/>
            <a:ext cx="1930066" cy="4191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7AB39-7F62-42CC-A3A1-F18BC74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48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企业微信服务群：记录房源、签约与入住状态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98E6A-AEF6-4426-8134-909D8FC9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ED611-76C0-473E-8C75-74C9AD57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921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12193-D963-49E6-8179-D09F7778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5D5"/>
                </a:solidFill>
              </a:defRPr>
            </a:pPr>
            <a:r>
              <a:rPr sz="1050" b="1">
                <a:solidFill>
                  <a:srgbClr val="2F65D5"/>
                </a:solidFill>
              </a:rPr>
              <a:t>07 迭代方向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B67FA-1609-42CB-BD5A-3FC627B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从租房服务扩展到新生支持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33845-A477-4EBC-A473-381987BA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82"/>
                </a:solidFill>
              </a:defRPr>
            </a:pPr>
            <a:r>
              <a:rPr sz="1275" b="0">
                <a:solidFill>
                  <a:srgbClr val="5D6B82"/>
                </a:solidFill>
              </a:rPr>
              <a:t>服务一览页展示后续可扩展的落地服务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F34C6-86DA-4C85-A54C-3065F896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65D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F65D5"/>
                </a:solidFill>
              </a:defRPr>
            </a:pPr>
            <a:r>
              <a:rPr sz="1575" b="1">
                <a:solidFill>
                  <a:srgbClr val="2F65D5"/>
                </a:solidFill>
              </a:rPr>
              <a:t>当前基础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09B6C-0D0C-4D31-84CC-191096E5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房源筛选、需求收集、找室友、代看房和签约入住支持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41D29-1395-4F8A-910B-F560AE0E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1A68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1A683"/>
                </a:solidFill>
              </a:defRPr>
            </a:pPr>
            <a:r>
              <a:rPr sz="1575" b="1">
                <a:solidFill>
                  <a:srgbClr val="11A683"/>
                </a:solidFill>
              </a:rPr>
              <a:t>下一阶段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25ABA-EB34-46D3-9883-81083720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13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接机、报到、合同审查、宽带办理、保洁和驾校报名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D0938-2173-462D-8C4D-BAFE9FDE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66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A96F2-3B14-4B99-ACB7-ADA2398F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006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GTM 结论：先聚焦入学季新生，再用数据复盘渠道和房源策略，逐步扩展服务链。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83A06-924F-4C6B-A023-5A3435B03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53a8a5b474777"/>
          <a:stretch xmlns:a="http://schemas.openxmlformats.org/drawingml/2006/main"/>
        </p:blipFill>
        <p:spPr>
          <a:xfrm xmlns:a="http://schemas.openxmlformats.org/drawingml/2006/main">
            <a:off x="8788338" y="1666875"/>
            <a:ext cx="1949574" cy="4238625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553AA-31E2-42CA-B4EA-2AE4A0A5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48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6B82"/>
                </a:solidFill>
              </a:defRPr>
            </a:pPr>
            <a:r>
              <a:rPr sz="1050" b="0">
                <a:solidFill>
                  <a:srgbClr val="5D6B82"/>
                </a:solidFill>
              </a:rPr>
              <a:t>服务内容一览（产品规划/测试界面）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62647-80CB-47CE-A44E-7707910A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吉隆坡留学生租房平台｜GTM 4P 市场分析与运营方案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50D69-0958-4471-9A54-228AD6DC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6B82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82"/>
                </a:solidFill>
              </a:defRPr>
            </a:pPr>
            <a:r>
              <a:rPr sz="825" b="0">
                <a:solidFill>
                  <a:srgbClr val="5D6B8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2815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2026-10-16T10:21:32.6960000Z</dcterms:created>
  <dcterms:modified xsi:type="dcterms:W3CDTF">2026-10-16T10:21:32.6960000Z</dcterms:modified>
</coreProperties>
</file>